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6"/>
  </p:notesMasterIdLst>
  <p:handoutMasterIdLst>
    <p:handoutMasterId r:id="rId17"/>
  </p:handoutMasterIdLst>
  <p:sldIdLst>
    <p:sldId id="256" r:id="rId5"/>
    <p:sldId id="257" r:id="rId6"/>
    <p:sldId id="270" r:id="rId7"/>
    <p:sldId id="269" r:id="rId8"/>
    <p:sldId id="271" r:id="rId9"/>
    <p:sldId id="276" r:id="rId10"/>
    <p:sldId id="272" r:id="rId11"/>
    <p:sldId id="273" r:id="rId12"/>
    <p:sldId id="277" r:id="rId13"/>
    <p:sldId id="274" r:id="rId14"/>
    <p:sldId id="268" r:id="rId1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EA836F-F484-424E-9952-E571EA036A1C}" v="230" dt="2026-04-30T05:47:14.039"/>
    <p1510:client id="{9ACC21D0-55A4-4324-8692-E0BAA77B13C5}" v="451" dt="2026-04-30T05:28:23.428"/>
    <p1510:client id="{CA4223E8-EA1A-4304-8E0B-3B00551D58CB}" v="445" dt="2026-04-30T06:09:47.7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1234"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5/14/2026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5/14/2026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CA"/>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CA"/>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CA"/>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t>5/14/2026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17485"/>
          </a:xfrm>
          <a:prstGeom prst="rect">
            <a:avLst/>
          </a:prstGeom>
          <a:noFill/>
          <a:ln w="9360">
            <a:noFill/>
          </a:ln>
        </p:spPr>
        <p:txBody>
          <a:bodyPr lIns="91440" tIns="45720" rIns="91440" bIns="45720" anchor="t">
            <a:noAutofit/>
          </a:bodyPr>
          <a:lstStyle/>
          <a:p>
            <a:pPr algn="ctr">
              <a:lnSpc>
                <a:spcPct val="100000"/>
              </a:lnSpc>
              <a:spcBef>
                <a:spcPts val="400"/>
              </a:spcBef>
            </a:pPr>
            <a:r>
              <a:rPr lang="en-IN">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a:latin typeface="Times New Roman" panose="02020603050405020304" pitchFamily="18" charset="0"/>
                <a:ea typeface="Calibri" panose="020F0502020204030204" pitchFamily="34" charset="0"/>
                <a:cs typeface="Times New Roman" panose="02020603050405020304" pitchFamily="18" charset="0"/>
              </a:rPr>
              <a:t>Co-Op Project at Industry (Module-1) </a:t>
            </a:r>
            <a:endParaRPr lang="en-IN">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spcBef>
                <a:spcPts val="400"/>
              </a:spcBef>
            </a:pPr>
            <a:r>
              <a:rPr lang="en-IN" sz="2400" b="1">
                <a:highlight>
                  <a:srgbClr val="FFFFFF"/>
                </a:highlight>
                <a:latin typeface="Times New Roman" panose="02020603050405020304" pitchFamily="18" charset="0"/>
                <a:ea typeface="Calibri" panose="020F0502020204030204" pitchFamily="34" charset="0"/>
                <a:cs typeface="Times New Roman" panose="02020603050405020304" pitchFamily="18" charset="0"/>
              </a:rPr>
              <a:t>Comparative Study of Machine Learning Regression Models for Student Performance Prediction</a:t>
            </a:r>
            <a:endParaRPr lang="en-US" sz="2400">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algn="ctr">
              <a:spcBef>
                <a:spcPts val="400"/>
              </a:spcBef>
            </a:pPr>
            <a:br>
              <a:rPr lang="en-US" sz="2000" spc="-1" dirty="0">
                <a:latin typeface="Times New Roman" panose="02020603050405020304" pitchFamily="18" charset="0"/>
                <a:ea typeface="MS PGothic"/>
                <a:cs typeface="Times New Roman" panose="02020603050405020304" pitchFamily="18" charset="0"/>
              </a:rPr>
            </a:br>
            <a:endParaRPr lang="en-US" sz="2000" spc="-1">
              <a:solidFill>
                <a:srgbClr val="000000"/>
              </a:solidFill>
              <a:latin typeface="Times New Roman"/>
              <a:ea typeface="MS PGothic"/>
              <a:cs typeface="Times New Roman"/>
            </a:endParaRPr>
          </a:p>
          <a:p>
            <a:pPr algn="ctr">
              <a:lnSpc>
                <a:spcPct val="100000"/>
              </a:lnSpc>
              <a:spcBef>
                <a:spcPts val="400"/>
              </a:spcBef>
            </a:pPr>
            <a:endParaRPr lang="en-US" sz="2000" b="0" strike="noStrike" spc="-1">
              <a:solidFill>
                <a:srgbClr val="000000"/>
              </a:solidFill>
              <a:latin typeface="Times New Roman" panose="02020603050405020304" pitchFamily="18" charset="0"/>
              <a:ea typeface="MS PGothic"/>
              <a:cs typeface="Times New Roman" panose="02020603050405020304" pitchFamily="18" charset="0"/>
            </a:endParaRPr>
          </a:p>
          <a:p>
            <a:pPr algn="ctr">
              <a:spcBef>
                <a:spcPts val="400"/>
              </a:spcBef>
            </a:pPr>
            <a:endParaRPr lang="en-US" sz="2000" spc="-1" dirty="0">
              <a:solidFill>
                <a:srgbClr val="000000"/>
              </a:solidFill>
              <a:latin typeface="Times New Roman"/>
              <a:ea typeface="MS PGothic"/>
              <a:cs typeface="Times New Roman"/>
            </a:endParaRPr>
          </a:p>
          <a:p>
            <a:pPr algn="ctr">
              <a:spcBef>
                <a:spcPts val="400"/>
              </a:spcBef>
            </a:pPr>
            <a:endParaRPr lang="en-US" sz="2000" spc="-1" dirty="0">
              <a:solidFill>
                <a:srgbClr val="000000"/>
              </a:solidFill>
              <a:latin typeface="Times New Roman"/>
              <a:ea typeface="MS PGothic"/>
              <a:cs typeface="Times New Roman"/>
            </a:endParaRPr>
          </a:p>
          <a:p>
            <a:pPr algn="ctr">
              <a:lnSpc>
                <a:spcPct val="100000"/>
              </a:lnSpc>
              <a:spcBef>
                <a:spcPts val="400"/>
              </a:spcBef>
            </a:pPr>
            <a:r>
              <a:rPr lang="en-US" sz="2000" spc="-1">
                <a:solidFill>
                  <a:srgbClr val="000000"/>
                </a:solidFill>
                <a:latin typeface="Times New Roman"/>
                <a:ea typeface="MS PGothic"/>
                <a:cs typeface="Times New Roman"/>
              </a:rPr>
              <a:t>Supervised By</a:t>
            </a:r>
            <a:endParaRPr lang="en-US">
              <a:latin typeface="Times New Roman"/>
              <a:cs typeface="Times New Roman"/>
            </a:endParaRPr>
          </a:p>
          <a:p>
            <a:pPr algn="ctr">
              <a:spcBef>
                <a:spcPts val="400"/>
              </a:spcBef>
            </a:pPr>
            <a:r>
              <a:rPr lang="en-US" sz="2000" spc="-1">
                <a:solidFill>
                  <a:srgbClr val="000000"/>
                </a:solidFill>
                <a:latin typeface="Times New Roman"/>
                <a:ea typeface="MS PGothic"/>
                <a:cs typeface="Times New Roman"/>
              </a:rPr>
              <a:t>Dr. Gurpreet Singh</a:t>
            </a:r>
            <a:endParaRPr lang="en-US" sz="2000" spc="-1">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a:latin typeface="Times New Roman" panose="02020603050405020304" pitchFamily="18" charset="0"/>
                <a:ea typeface="MS PGothic"/>
                <a:cs typeface="Times New Roman" panose="02020603050405020304" pitchFamily="18" charset="0"/>
              </a:rPr>
              <a:t>Department of </a:t>
            </a:r>
            <a:r>
              <a:rPr lang="en-US" sz="2400" b="0" strike="noStrike" spc="-1">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a:solidFill>
                <a:srgbClr val="000000"/>
              </a:solidFill>
              <a:latin typeface="Calibri"/>
            </a:endParaRPr>
          </a:p>
          <a:p>
            <a:pPr>
              <a:lnSpc>
                <a:spcPct val="100000"/>
              </a:lnSpc>
              <a:spcBef>
                <a:spcPts val="641"/>
              </a:spcBef>
            </a:pPr>
            <a:endParaRPr lang="en-US" sz="2000" b="0" strike="noStrike" spc="-1">
              <a:solidFill>
                <a:srgbClr val="000000"/>
              </a:solidFill>
              <a:latin typeface="Calibri"/>
            </a:endParaRPr>
          </a:p>
        </p:txBody>
      </p:sp>
      <p:graphicFrame>
        <p:nvGraphicFramePr>
          <p:cNvPr id="3" name="Table 2">
            <a:extLst>
              <a:ext uri="{FF2B5EF4-FFF2-40B4-BE49-F238E27FC236}">
                <a16:creationId xmlns:a16="http://schemas.microsoft.com/office/drawing/2014/main" id="{117B2A23-08FF-A4F3-1F19-CDECC43117B4}"/>
              </a:ext>
            </a:extLst>
          </p:cNvPr>
          <p:cNvGraphicFramePr>
            <a:graphicFrameLocks noGrp="1"/>
          </p:cNvGraphicFramePr>
          <p:nvPr>
            <p:extLst>
              <p:ext uri="{D42A27DB-BD31-4B8C-83A1-F6EECF244321}">
                <p14:modId xmlns:p14="http://schemas.microsoft.com/office/powerpoint/2010/main" val="655194931"/>
              </p:ext>
            </p:extLst>
          </p:nvPr>
        </p:nvGraphicFramePr>
        <p:xfrm>
          <a:off x="216242" y="2481648"/>
          <a:ext cx="8928004" cy="1430147"/>
        </p:xfrm>
        <a:graphic>
          <a:graphicData uri="http://schemas.openxmlformats.org/drawingml/2006/table">
            <a:tbl>
              <a:tblPr bandRow="1">
                <a:tableStyleId>{5C22544A-7EE6-4342-B048-85BDC9FD1C3A}</a:tableStyleId>
              </a:tblPr>
              <a:tblGrid>
                <a:gridCol w="2232001">
                  <a:extLst>
                    <a:ext uri="{9D8B030D-6E8A-4147-A177-3AD203B41FA5}">
                      <a16:colId xmlns:a16="http://schemas.microsoft.com/office/drawing/2014/main" val="1070188845"/>
                    </a:ext>
                  </a:extLst>
                </a:gridCol>
                <a:gridCol w="2232001">
                  <a:extLst>
                    <a:ext uri="{9D8B030D-6E8A-4147-A177-3AD203B41FA5}">
                      <a16:colId xmlns:a16="http://schemas.microsoft.com/office/drawing/2014/main" val="1119660428"/>
                    </a:ext>
                  </a:extLst>
                </a:gridCol>
                <a:gridCol w="2232001">
                  <a:extLst>
                    <a:ext uri="{9D8B030D-6E8A-4147-A177-3AD203B41FA5}">
                      <a16:colId xmlns:a16="http://schemas.microsoft.com/office/drawing/2014/main" val="4203500458"/>
                    </a:ext>
                  </a:extLst>
                </a:gridCol>
                <a:gridCol w="2232001">
                  <a:extLst>
                    <a:ext uri="{9D8B030D-6E8A-4147-A177-3AD203B41FA5}">
                      <a16:colId xmlns:a16="http://schemas.microsoft.com/office/drawing/2014/main" val="228811665"/>
                    </a:ext>
                  </a:extLst>
                </a:gridCol>
              </a:tblGrid>
              <a:tr h="1371588">
                <a:tc>
                  <a:txBody>
                    <a:bodyPr/>
                    <a:lstStyle/>
                    <a:p>
                      <a:pPr algn="l" rtl="0" fontAlgn="base">
                        <a:lnSpc>
                          <a:spcPts val="1295"/>
                        </a:lnSpc>
                        <a:spcAft>
                          <a:spcPts val="100"/>
                        </a:spcAft>
                        <a:buNone/>
                      </a:pPr>
                      <a:r>
                        <a:rPr lang="en-IN" sz="1200" b="0" i="0">
                          <a:effectLst/>
                          <a:latin typeface="Times New Roman"/>
                        </a:rPr>
                        <a:t>Uday Aggarwal</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Dept. of CSE</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Chitkara University Institute of</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Engineering and Technology</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Punjab, India</a:t>
                      </a:r>
                      <a:r>
                        <a:rPr lang="en-US" sz="1200" b="0" i="0" dirty="0">
                          <a:effectLst/>
                          <a:latin typeface="Times New Roman"/>
                        </a:rPr>
                        <a:t> </a:t>
                      </a:r>
                    </a:p>
                    <a:p>
                      <a:pPr algn="l" rtl="0" fontAlgn="base">
                        <a:lnSpc>
                          <a:spcPts val="1295"/>
                        </a:lnSpc>
                        <a:buNone/>
                      </a:pPr>
                      <a:r>
                        <a:rPr lang="en-IN" sz="1200" b="0" i="0">
                          <a:effectLst/>
                          <a:latin typeface="Times New Roman"/>
                        </a:rPr>
                        <a:t>aggarwal.uday26@gmail.com</a:t>
                      </a:r>
                      <a:r>
                        <a:rPr lang="en-US" sz="1200" b="0" i="0" dirty="0">
                          <a:effectLst/>
                          <a:latin typeface="Times New Roman"/>
                        </a:rPr>
                        <a:t> </a:t>
                      </a:r>
                    </a:p>
                  </a:txBody>
                  <a:tcPr>
                    <a:lnL>
                      <a:noFill/>
                    </a:lnL>
                    <a:lnR>
                      <a:noFill/>
                    </a:lnR>
                    <a:lnT>
                      <a:noFill/>
                    </a:lnT>
                    <a:lnB>
                      <a:noFill/>
                    </a:lnB>
                    <a:noFill/>
                  </a:tcPr>
                </a:tc>
                <a:tc>
                  <a:txBody>
                    <a:bodyPr/>
                    <a:lstStyle/>
                    <a:p>
                      <a:pPr algn="l" rtl="0" fontAlgn="base">
                        <a:lnSpc>
                          <a:spcPts val="1295"/>
                        </a:lnSpc>
                        <a:spcAft>
                          <a:spcPts val="100"/>
                        </a:spcAft>
                        <a:buNone/>
                      </a:pPr>
                      <a:r>
                        <a:rPr lang="en-IN" sz="1200" b="0" i="0">
                          <a:effectLst/>
                          <a:latin typeface="Times New Roman"/>
                        </a:rPr>
                        <a:t>Himanshu Sharma</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Dept. of CSE</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Chitkara University Institute of</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Engineering and Technology</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Punjab, India</a:t>
                      </a:r>
                      <a:r>
                        <a:rPr lang="en-US" sz="1200" b="0" i="0" dirty="0">
                          <a:effectLst/>
                          <a:latin typeface="Times New Roman"/>
                        </a:rPr>
                        <a:t> </a:t>
                      </a:r>
                    </a:p>
                    <a:p>
                      <a:pPr algn="l" rtl="0" fontAlgn="base">
                        <a:lnSpc>
                          <a:spcPts val="1295"/>
                        </a:lnSpc>
                        <a:buNone/>
                      </a:pPr>
                      <a:r>
                        <a:rPr lang="en-IN" sz="1200" b="0" i="0">
                          <a:effectLst/>
                          <a:latin typeface="Times New Roman"/>
                        </a:rPr>
                        <a:t>himanshuxd888@gmail.com</a:t>
                      </a:r>
                      <a:r>
                        <a:rPr lang="en-US" sz="1200" b="0" i="0" dirty="0">
                          <a:effectLst/>
                          <a:latin typeface="Times New Roman"/>
                        </a:rPr>
                        <a:t> </a:t>
                      </a:r>
                    </a:p>
                  </a:txBody>
                  <a:tcPr>
                    <a:lnL>
                      <a:noFill/>
                    </a:lnL>
                    <a:lnR>
                      <a:noFill/>
                    </a:lnR>
                    <a:lnT>
                      <a:noFill/>
                    </a:lnT>
                    <a:lnB>
                      <a:noFill/>
                    </a:lnB>
                    <a:noFill/>
                  </a:tcPr>
                </a:tc>
                <a:tc>
                  <a:txBody>
                    <a:bodyPr/>
                    <a:lstStyle/>
                    <a:p>
                      <a:pPr algn="l" rtl="0" fontAlgn="base">
                        <a:lnSpc>
                          <a:spcPts val="1295"/>
                        </a:lnSpc>
                        <a:spcAft>
                          <a:spcPts val="100"/>
                        </a:spcAft>
                        <a:buNone/>
                      </a:pPr>
                      <a:r>
                        <a:rPr lang="en-IN" sz="1200" b="0" i="0">
                          <a:effectLst/>
                          <a:latin typeface="Times New Roman"/>
                        </a:rPr>
                        <a:t>Hargun Singh</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Dept. of CSE</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Chitkara University Institute of</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Engineering and Technology</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Punjab, India</a:t>
                      </a:r>
                      <a:r>
                        <a:rPr lang="en-US" sz="1200" b="0" i="0" dirty="0">
                          <a:effectLst/>
                          <a:latin typeface="Times New Roman"/>
                        </a:rPr>
                        <a:t> </a:t>
                      </a:r>
                    </a:p>
                    <a:p>
                      <a:pPr algn="l" rtl="0" fontAlgn="base">
                        <a:lnSpc>
                          <a:spcPts val="1295"/>
                        </a:lnSpc>
                        <a:buNone/>
                      </a:pPr>
                      <a:r>
                        <a:rPr lang="en-IN" sz="1200" b="0" i="0">
                          <a:effectLst/>
                          <a:latin typeface="Times New Roman"/>
                        </a:rPr>
                        <a:t>hargun3574@gmail.com</a:t>
                      </a:r>
                      <a:r>
                        <a:rPr lang="en-US" sz="1200" b="0" i="0" dirty="0">
                          <a:effectLst/>
                          <a:latin typeface="Times New Roman"/>
                        </a:rPr>
                        <a:t> </a:t>
                      </a:r>
                    </a:p>
                  </a:txBody>
                  <a:tcPr>
                    <a:lnL>
                      <a:noFill/>
                    </a:lnL>
                    <a:lnR>
                      <a:noFill/>
                    </a:lnR>
                    <a:lnT>
                      <a:noFill/>
                    </a:lnT>
                    <a:lnB>
                      <a:noFill/>
                    </a:lnB>
                    <a:noFill/>
                  </a:tcPr>
                </a:tc>
                <a:tc>
                  <a:txBody>
                    <a:bodyPr/>
                    <a:lstStyle/>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Drishti Sharma</a:t>
                      </a:r>
                      <a:endParaRPr lang="en-US" sz="1200" b="0" i="0" u="none" strike="noStrike" noProof="0">
                        <a:effectLst/>
                        <a:highlight>
                          <a:srgbClr val="FFFFFF"/>
                        </a:highlight>
                        <a:latin typeface="Times New Roman"/>
                        <a:cs typeface="Times New Roman"/>
                      </a:endParaRPr>
                    </a:p>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Dept. of CSE</a:t>
                      </a:r>
                      <a:endParaRPr lang="en-US" sz="1200" b="0" i="0" u="none" strike="noStrike" noProof="0">
                        <a:effectLst/>
                        <a:highlight>
                          <a:srgbClr val="FFFFFF"/>
                        </a:highlight>
                        <a:latin typeface="Times New Roman"/>
                        <a:cs typeface="Times New Roman"/>
                      </a:endParaRPr>
                    </a:p>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Chitkara University Institute of</a:t>
                      </a:r>
                      <a:endParaRPr lang="en-US" sz="1200" b="0" i="0" u="none" strike="noStrike" noProof="0">
                        <a:effectLst/>
                        <a:highlight>
                          <a:srgbClr val="FFFFFF"/>
                        </a:highlight>
                        <a:latin typeface="Times New Roman"/>
                        <a:cs typeface="Times New Roman"/>
                      </a:endParaRPr>
                    </a:p>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Engineering and Technology</a:t>
                      </a:r>
                    </a:p>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Punjab, India</a:t>
                      </a:r>
                      <a:endParaRPr lang="en-US" sz="1200" b="0" i="0" u="none" strike="noStrike" noProof="0">
                        <a:effectLst/>
                        <a:highlight>
                          <a:srgbClr val="FFFFFF"/>
                        </a:highlight>
                        <a:latin typeface="Times New Roman"/>
                        <a:cs typeface="Times New Roman"/>
                      </a:endParaRPr>
                    </a:p>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sdrishti192@gmail.com</a:t>
                      </a:r>
                    </a:p>
                    <a:p>
                      <a:pPr lvl="0" algn="l">
                        <a:lnSpc>
                          <a:spcPct val="150000"/>
                        </a:lnSpc>
                        <a:buNone/>
                      </a:pPr>
                      <a:endParaRPr lang="en-US" sz="1200" b="0" i="0" dirty="0">
                        <a:effectLst/>
                        <a:latin typeface="Times New Roman"/>
                      </a:endParaRPr>
                    </a:p>
                  </a:txBody>
                  <a:tcPr>
                    <a:lnL w="0">
                      <a:noFill/>
                    </a:lnL>
                    <a:lnR w="0">
                      <a:noFill/>
                    </a:lnR>
                    <a:lnT w="0">
                      <a:noFill/>
                    </a:lnT>
                    <a:lnB w="0">
                      <a:noFill/>
                    </a:lnB>
                    <a:noFill/>
                  </a:tcPr>
                </a:tc>
                <a:extLst>
                  <a:ext uri="{0D108BD9-81ED-4DB2-BD59-A6C34878D82A}">
                    <a16:rowId xmlns:a16="http://schemas.microsoft.com/office/drawing/2014/main" val="317177322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Introduction </a:t>
            </a:r>
            <a:endParaRPr lang="en-US" sz="3000" b="0" strike="noStrike" spc="-1">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52857" y="1332766"/>
            <a:ext cx="8838720" cy="4838571"/>
          </a:xfrm>
          <a:prstGeom prst="rect">
            <a:avLst/>
          </a:prstGeom>
          <a:noFill/>
          <a:ln w="9360">
            <a:noFill/>
          </a:ln>
        </p:spPr>
        <p:txBody>
          <a:bodyPr lIns="91440" tIns="45720" rIns="91440" bIns="45720" anchor="t">
            <a:noAutofit/>
          </a:bodyPr>
          <a:lstStyle/>
          <a:p>
            <a:r>
              <a:rPr lang="en-US" sz="2000" spc="-1" dirty="0">
                <a:latin typeface="Times New Roman" panose="02020603050405020304" pitchFamily="18" charset="0"/>
                <a:ea typeface="+mn-lt"/>
                <a:cs typeface="Times New Roman" panose="02020603050405020304" pitchFamily="18" charset="0"/>
              </a:rPr>
              <a:t>This presentation focuses on analyzing and comparing multiple machine learning regression techniques to predict student academic performance.</a:t>
            </a:r>
            <a:endParaRPr lang="en-US" sz="2000" dirty="0">
              <a:latin typeface="Times New Roman" panose="02020603050405020304" pitchFamily="18" charset="0"/>
              <a:ea typeface="+mn-lt"/>
              <a:cs typeface="Times New Roman" panose="02020603050405020304" pitchFamily="18" charset="0"/>
            </a:endParaRPr>
          </a:p>
          <a:p>
            <a:endParaRPr lang="en-US" sz="2000" spc="-1" dirty="0">
              <a:latin typeface="Times New Roman" panose="02020603050405020304" pitchFamily="18" charset="0"/>
              <a:ea typeface="+mn-lt"/>
              <a:cs typeface="Times New Roman" panose="02020603050405020304" pitchFamily="18" charset="0"/>
            </a:endParaRPr>
          </a:p>
          <a:p>
            <a:r>
              <a:rPr lang="en-US" sz="2000" spc="-1" dirty="0">
                <a:latin typeface="Times New Roman" panose="02020603050405020304" pitchFamily="18" charset="0"/>
                <a:ea typeface="+mn-lt"/>
                <a:cs typeface="Times New Roman" panose="02020603050405020304" pitchFamily="18" charset="0"/>
              </a:rPr>
              <a:t>The study evaluates four models Linear Regression, Ridge Regression, Decision Tree Regressor, and Random Forest Regressor using real-world educational data to determine the most effective approach for predicting final student grades.</a:t>
            </a:r>
            <a:endParaRPr lang="en-US" sz="2000" dirty="0">
              <a:latin typeface="Times New Roman" panose="02020603050405020304" pitchFamily="18" charset="0"/>
              <a:ea typeface="+mn-lt"/>
              <a:cs typeface="Times New Roman" panose="02020603050405020304" pitchFamily="18" charset="0"/>
            </a:endParaRPr>
          </a:p>
          <a:p>
            <a:endParaRPr lang="en-US" sz="2000" spc="-1" dirty="0">
              <a:latin typeface="Times New Roman" panose="02020603050405020304" pitchFamily="18" charset="0"/>
              <a:cs typeface="Times New Roman" panose="02020603050405020304" pitchFamily="18" charset="0"/>
            </a:endParaRPr>
          </a:p>
          <a:p>
            <a:r>
              <a:rPr lang="en-US" sz="2000" spc="-1" dirty="0">
                <a:latin typeface="Times New Roman" panose="02020603050405020304" pitchFamily="18" charset="0"/>
                <a:ea typeface="+mn-lt"/>
                <a:cs typeface="Times New Roman" panose="02020603050405020304" pitchFamily="18" charset="0"/>
              </a:rPr>
              <a:t>Educational data mining has gained significant importance in recent years as institutions aim to predict student performance and provide early interventions. This study compares four supervised regression models using the UCI Student Performance dataset.</a:t>
            </a:r>
            <a:endParaRPr lang="en-US" sz="2000" dirty="0">
              <a:latin typeface="Times New Roman" panose="02020603050405020304" pitchFamily="18" charset="0"/>
              <a:ea typeface="+mn-lt"/>
              <a:cs typeface="Times New Roman" panose="02020603050405020304" pitchFamily="18" charset="0"/>
            </a:endParaRPr>
          </a:p>
          <a:p>
            <a:endParaRPr lang="en-US" sz="2000" spc="-1" dirty="0">
              <a:latin typeface="Times New Roman" panose="02020603050405020304" pitchFamily="18" charset="0"/>
              <a:cs typeface="Times New Roman" panose="02020603050405020304" pitchFamily="18" charset="0"/>
            </a:endParaRPr>
          </a:p>
          <a:p>
            <a:r>
              <a:rPr lang="en-US" sz="2000" spc="-1" dirty="0">
                <a:latin typeface="Times New Roman" panose="02020603050405020304" pitchFamily="18" charset="0"/>
                <a:ea typeface="+mn-lt"/>
                <a:cs typeface="Times New Roman" panose="02020603050405020304" pitchFamily="18" charset="0"/>
              </a:rPr>
              <a:t>The results demonstrate that machine learning can effectively predict student outcomes and help institutions identify at-risk students early. </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82C66-E110-AD4D-E3F4-38A538C98FC1}"/>
              </a:ext>
            </a:extLst>
          </p:cNvPr>
          <p:cNvSpPr>
            <a:spLocks noGrp="1"/>
          </p:cNvSpPr>
          <p:nvPr>
            <p:ph type="title"/>
          </p:nvPr>
        </p:nvSpPr>
        <p:spPr/>
        <p:txBody>
          <a:bodyPr/>
          <a:lstStyle/>
          <a:p>
            <a:r>
              <a:rPr lang="en-IN" sz="3200">
                <a:latin typeface="Times New Roman"/>
                <a:cs typeface="Times New Roman"/>
              </a:rPr>
              <a:t>     Problem Statement</a:t>
            </a:r>
          </a:p>
        </p:txBody>
      </p:sp>
      <p:sp>
        <p:nvSpPr>
          <p:cNvPr id="4" name="TextBox 3">
            <a:extLst>
              <a:ext uri="{FF2B5EF4-FFF2-40B4-BE49-F238E27FC236}">
                <a16:creationId xmlns:a16="http://schemas.microsoft.com/office/drawing/2014/main" id="{C8B1AFE0-B1AC-918F-626A-D8802B871160}"/>
              </a:ext>
            </a:extLst>
          </p:cNvPr>
          <p:cNvSpPr txBox="1"/>
          <p:nvPr/>
        </p:nvSpPr>
        <p:spPr>
          <a:xfrm>
            <a:off x="323385" y="1460810"/>
            <a:ext cx="8263052"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ea typeface="+mn-lt"/>
                <a:cs typeface="Times New Roman" panose="02020603050405020304" pitchFamily="18" charset="0"/>
              </a:rPr>
              <a:t>Traditional academic evaluation methods often identify poor performance too late, leaving limited time for corrective actions which affects the final grades of students and leave a negative impact and causes harm in a moral way because the students could not achieve and perform as per their caliber and potential.</a:t>
            </a:r>
            <a:endParaRPr lang="en-US"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r>
              <a:rPr lang="en-US" sz="2000" dirty="0">
                <a:latin typeface="Times New Roman" panose="02020603050405020304" pitchFamily="18" charset="0"/>
                <a:ea typeface="+mn-lt"/>
                <a:cs typeface="Times New Roman" panose="02020603050405020304" pitchFamily="18" charset="0"/>
              </a:rPr>
              <a:t>This study aims to develop a predictive system that can estimate a student’s final grade in advance using machine learning so that there is ample time for improvements.</a:t>
            </a:r>
            <a:endParaRPr lang="en-US" dirty="0">
              <a:latin typeface="Times New Roman" panose="02020603050405020304" pitchFamily="18" charset="0"/>
              <a:ea typeface="+mn-lt"/>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r>
              <a:rPr lang="en-US" sz="2000" dirty="0">
                <a:latin typeface="Times New Roman" panose="02020603050405020304" pitchFamily="18" charset="0"/>
                <a:ea typeface="+mn-lt"/>
                <a:cs typeface="Times New Roman" panose="02020603050405020304" pitchFamily="18" charset="0"/>
              </a:rPr>
              <a:t>By comparing multiple regression models under the same conditions, the goal is to identify the most accurate and reliable model for real-world educational use.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107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EB2EE-CEEA-A4EC-4F3B-60BA601304FE}"/>
              </a:ext>
            </a:extLst>
          </p:cNvPr>
          <p:cNvSpPr>
            <a:spLocks noGrp="1"/>
          </p:cNvSpPr>
          <p:nvPr>
            <p:ph type="title"/>
          </p:nvPr>
        </p:nvSpPr>
        <p:spPr/>
        <p:txBody>
          <a:bodyPr/>
          <a:lstStyle/>
          <a:p>
            <a:r>
              <a:rPr lang="en-IN" sz="3200">
                <a:latin typeface="Times New Roman"/>
                <a:cs typeface="Times New Roman"/>
              </a:rPr>
              <a:t>       Objective</a:t>
            </a:r>
          </a:p>
        </p:txBody>
      </p:sp>
      <p:sp>
        <p:nvSpPr>
          <p:cNvPr id="4" name="TextBox 3">
            <a:extLst>
              <a:ext uri="{FF2B5EF4-FFF2-40B4-BE49-F238E27FC236}">
                <a16:creationId xmlns:a16="http://schemas.microsoft.com/office/drawing/2014/main" id="{C2BE3815-96CE-B935-BD68-3B576F6177AB}"/>
              </a:ext>
            </a:extLst>
          </p:cNvPr>
          <p:cNvSpPr txBox="1"/>
          <p:nvPr/>
        </p:nvSpPr>
        <p:spPr>
          <a:xfrm>
            <a:off x="591015" y="1572322"/>
            <a:ext cx="8017726"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ea typeface="+mn-lt"/>
                <a:cs typeface="Times New Roman" panose="02020603050405020304" pitchFamily="18" charset="0"/>
              </a:rPr>
              <a:t>The main objective of this study is to evaluate and compare the effectiveness of four machine learning regression models in predicting student academic performance.</a:t>
            </a:r>
            <a:endParaRPr lang="en-US"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r>
              <a:rPr lang="en-US" sz="2000" dirty="0">
                <a:latin typeface="Times New Roman" panose="02020603050405020304" pitchFamily="18" charset="0"/>
                <a:ea typeface="+mn-lt"/>
                <a:cs typeface="Times New Roman" panose="02020603050405020304" pitchFamily="18" charset="0"/>
              </a:rPr>
              <a:t>The study aims to assess each model using standard evaluation metrics such as MAE, MSE, and R² score. Additionally, it seeks to analyze the importance of different features in influencing predictions and to derive meaningful insights that can assist educational institutions in designing early warning systems for improving student outcomes.</a:t>
            </a:r>
            <a:endParaRPr lang="en-US" dirty="0">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8233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BBE8-75DE-96A0-6676-C75E7909BBC6}"/>
              </a:ext>
            </a:extLst>
          </p:cNvPr>
          <p:cNvSpPr>
            <a:spLocks noGrp="1"/>
          </p:cNvSpPr>
          <p:nvPr>
            <p:ph type="title"/>
          </p:nvPr>
        </p:nvSpPr>
        <p:spPr/>
        <p:txBody>
          <a:bodyPr/>
          <a:lstStyle/>
          <a:p>
            <a:r>
              <a:rPr lang="en-US" sz="3200">
                <a:latin typeface="Times New Roman"/>
                <a:cs typeface="Times New Roman"/>
              </a:rPr>
              <a:t>      Methodology</a:t>
            </a:r>
          </a:p>
        </p:txBody>
      </p:sp>
      <p:sp>
        <p:nvSpPr>
          <p:cNvPr id="3" name="Text Placeholder 2">
            <a:extLst>
              <a:ext uri="{FF2B5EF4-FFF2-40B4-BE49-F238E27FC236}">
                <a16:creationId xmlns:a16="http://schemas.microsoft.com/office/drawing/2014/main" id="{22002BE0-3916-0D80-61A0-3B13291FB596}"/>
              </a:ext>
            </a:extLst>
          </p:cNvPr>
          <p:cNvSpPr>
            <a:spLocks noGrp="1"/>
          </p:cNvSpPr>
          <p:nvPr>
            <p:ph type="body"/>
          </p:nvPr>
        </p:nvSpPr>
        <p:spPr>
          <a:xfrm>
            <a:off x="223025" y="1125018"/>
            <a:ext cx="8429962" cy="5259669"/>
          </a:xfrm>
        </p:spPr>
        <p:txBody>
          <a:bodyPr lIns="0" tIns="0" rIns="0" bIns="0" anchor="ctr">
            <a:normAutofit/>
          </a:bodyPr>
          <a:lstStyle/>
          <a:p>
            <a:pPr>
              <a:buNone/>
            </a:pPr>
            <a:r>
              <a:rPr lang="en-US" sz="2000" dirty="0">
                <a:latin typeface="Times New Roman" panose="02020603050405020304" pitchFamily="18" charset="0"/>
                <a:ea typeface="+mn-lt"/>
                <a:cs typeface="Times New Roman" panose="02020603050405020304" pitchFamily="18" charset="0"/>
              </a:rPr>
              <a:t>This study follows a standardized pipeline to ensure a fair comparison of all models. The UCI Student Performance dataset, consisting of 395 records and 33 features, was used with the final grade (G3) as the target variable. The features include demographic, behavioral, and academic attributes, with prior grades G1 and G2 playing a key role in prediction.</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pPr>
              <a:buNone/>
            </a:pPr>
            <a:r>
              <a:rPr lang="en-US" sz="2000" dirty="0">
                <a:latin typeface="Times New Roman" panose="02020603050405020304" pitchFamily="18" charset="0"/>
                <a:ea typeface="+mn-lt"/>
                <a:cs typeface="Times New Roman" panose="02020603050405020304" pitchFamily="18" charset="0"/>
              </a:rPr>
              <a:t>All categorical variables were converted into numerical form using </a:t>
            </a:r>
            <a:r>
              <a:rPr lang="en-US" sz="2000" dirty="0" err="1">
                <a:latin typeface="Times New Roman" panose="02020603050405020304" pitchFamily="18" charset="0"/>
                <a:ea typeface="+mn-lt"/>
                <a:cs typeface="Times New Roman" panose="02020603050405020304" pitchFamily="18" charset="0"/>
              </a:rPr>
              <a:t>LabelEncoder</a:t>
            </a:r>
            <a:r>
              <a:rPr lang="en-US" sz="2000" dirty="0">
                <a:latin typeface="Times New Roman" panose="02020603050405020304" pitchFamily="18" charset="0"/>
                <a:ea typeface="+mn-lt"/>
                <a:cs typeface="Times New Roman" panose="02020603050405020304" pitchFamily="18" charset="0"/>
              </a:rPr>
              <a:t>. The dataset was split into training and testing sets in an 80:20 ratio, and </a:t>
            </a:r>
            <a:r>
              <a:rPr lang="en-US" sz="2000" dirty="0" err="1">
                <a:latin typeface="Times New Roman" panose="02020603050405020304" pitchFamily="18" charset="0"/>
                <a:ea typeface="+mn-lt"/>
                <a:cs typeface="Times New Roman" panose="02020603050405020304" pitchFamily="18" charset="0"/>
              </a:rPr>
              <a:t>StandardScaler</a:t>
            </a:r>
            <a:r>
              <a:rPr lang="en-US" sz="2000" dirty="0">
                <a:latin typeface="Times New Roman" panose="02020603050405020304" pitchFamily="18" charset="0"/>
                <a:ea typeface="+mn-lt"/>
                <a:cs typeface="Times New Roman" panose="02020603050405020304" pitchFamily="18" charset="0"/>
              </a:rPr>
              <a:t> was applied to normalize feature values. The feature matrix included all variables except G3, which was used as the target.</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pPr>
              <a:buNone/>
            </a:pPr>
            <a:r>
              <a:rPr lang="en-US" sz="2000" dirty="0">
                <a:latin typeface="Times New Roman" panose="02020603050405020304" pitchFamily="18" charset="0"/>
                <a:ea typeface="+mn-lt"/>
                <a:cs typeface="Times New Roman" panose="02020603050405020304" pitchFamily="18" charset="0"/>
              </a:rPr>
              <a:t>Each model was trained and evaluated under identical conditions using the same dataset and preprocessing steps. This consistent methodology ensures that performance differences are solely due to the models, making the comparison reliable and reproducible.</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2689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1C3CF-F6A6-BBD8-C483-CA135B8E2071}"/>
              </a:ext>
            </a:extLst>
          </p:cNvPr>
          <p:cNvSpPr>
            <a:spLocks noGrp="1"/>
          </p:cNvSpPr>
          <p:nvPr>
            <p:ph type="title"/>
          </p:nvPr>
        </p:nvSpPr>
        <p:spPr>
          <a:xfrm>
            <a:off x="278780" y="0"/>
            <a:ext cx="5486040" cy="914040"/>
          </a:xfrm>
        </p:spPr>
        <p:txBody>
          <a:bodyPr/>
          <a:lstStyle/>
          <a:p>
            <a:r>
              <a:rPr lang="en-US" sz="3200">
                <a:latin typeface="Times New Roman"/>
                <a:cs typeface="Times New Roman"/>
              </a:rPr>
              <a:t>     Model </a:t>
            </a:r>
            <a:r>
              <a:rPr lang="en-US" sz="3200" err="1">
                <a:latin typeface="Times New Roman"/>
                <a:cs typeface="Times New Roman"/>
              </a:rPr>
              <a:t>Compariso</a:t>
            </a:r>
            <a:r>
              <a:rPr lang="en-US" sz="3200" dirty="0">
                <a:latin typeface="Times New Roman"/>
                <a:cs typeface="Times New Roman"/>
              </a:rPr>
              <a:t>n</a:t>
            </a:r>
          </a:p>
        </p:txBody>
      </p:sp>
      <p:sp>
        <p:nvSpPr>
          <p:cNvPr id="3" name="Text Placeholder 2">
            <a:extLst>
              <a:ext uri="{FF2B5EF4-FFF2-40B4-BE49-F238E27FC236}">
                <a16:creationId xmlns:a16="http://schemas.microsoft.com/office/drawing/2014/main" id="{AD9455BC-38B2-097F-26F2-51628F0CB440}"/>
              </a:ext>
            </a:extLst>
          </p:cNvPr>
          <p:cNvSpPr>
            <a:spLocks noGrp="1"/>
          </p:cNvSpPr>
          <p:nvPr>
            <p:ph type="body"/>
          </p:nvPr>
        </p:nvSpPr>
        <p:spPr>
          <a:xfrm>
            <a:off x="278780" y="1002355"/>
            <a:ext cx="8273844" cy="5504996"/>
          </a:xfrm>
        </p:spPr>
        <p:txBody>
          <a:bodyPr lIns="0" tIns="0" rIns="0" bIns="0" anchor="ctr">
            <a:noAutofit/>
          </a:bodyPr>
          <a:lstStyle/>
          <a:p>
            <a:pPr>
              <a:buNone/>
            </a:pPr>
            <a:r>
              <a:rPr lang="en-US" sz="2000" dirty="0">
                <a:latin typeface="Times New Roman" panose="02020603050405020304" pitchFamily="18" charset="0"/>
                <a:ea typeface="+mn-lt"/>
                <a:cs typeface="Times New Roman" panose="02020603050405020304" pitchFamily="18" charset="0"/>
              </a:rPr>
              <a:t>This study evaluates four regression models for predicting student performance. Linear Regression is simple and interpretable but limited in handling complex, non-linear relationships. Ridge Regression improves stability by reducing the impact of correlated features, though it still remains a linear approach.</a:t>
            </a:r>
            <a:endParaRPr lang="en-US"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r>
              <a:rPr lang="en-US" sz="2000" dirty="0">
                <a:latin typeface="Times New Roman" panose="02020603050405020304" pitchFamily="18" charset="0"/>
                <a:ea typeface="+mn-lt"/>
                <a:cs typeface="Times New Roman" panose="02020603050405020304" pitchFamily="18" charset="0"/>
              </a:rPr>
              <a:t>The Decision Tree Regressor captures non-linear patterns through rule-based splits but tends to overfit, especially on smaller datasets. In contrast, the Random Forest Regressor uses an ensemble of multiple trees, reducing overfitting and improving accuracy.</a:t>
            </a:r>
            <a:endParaRPr lang="en-US" dirty="0">
              <a:latin typeface="Times New Roman" panose="02020603050405020304" pitchFamily="18" charset="0"/>
              <a:ea typeface="+mn-lt"/>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pPr>
              <a:buNone/>
            </a:pPr>
            <a:r>
              <a:rPr lang="en-US" sz="2000" dirty="0">
                <a:latin typeface="Times New Roman" panose="02020603050405020304" pitchFamily="18" charset="0"/>
                <a:ea typeface="+mn-lt"/>
                <a:cs typeface="Times New Roman" panose="02020603050405020304" pitchFamily="18" charset="0"/>
              </a:rPr>
              <a:t>Overall, Random Forest provides the most robust and reliable performance, while linear models offer simplicity with slightly lower predictive power.</a:t>
            </a:r>
            <a:endParaRPr lang="en-US" dirty="0">
              <a:latin typeface="Times New Roman" panose="02020603050405020304" pitchFamily="18" charset="0"/>
              <a:cs typeface="Times New Roman" panose="02020603050405020304" pitchFamily="18" charset="0"/>
            </a:endParaRPr>
          </a:p>
          <a:p>
            <a:pPr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2452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F60D7-7967-D74D-3C2B-A4A89BCE9CEB}"/>
              </a:ext>
            </a:extLst>
          </p:cNvPr>
          <p:cNvSpPr>
            <a:spLocks noGrp="1"/>
          </p:cNvSpPr>
          <p:nvPr>
            <p:ph type="title"/>
          </p:nvPr>
        </p:nvSpPr>
        <p:spPr/>
        <p:txBody>
          <a:bodyPr/>
          <a:lstStyle/>
          <a:p>
            <a:r>
              <a:rPr lang="en-US" sz="3200">
                <a:latin typeface="Times New Roman"/>
                <a:cs typeface="Times New Roman"/>
              </a:rPr>
              <a:t>     Model Comparison</a:t>
            </a:r>
          </a:p>
        </p:txBody>
      </p:sp>
      <p:pic>
        <p:nvPicPr>
          <p:cNvPr id="5" name="Picture 4" descr="A graph of blue rectangular bars with white text&#10;&#10;AI-generated content may be incorrect.">
            <a:extLst>
              <a:ext uri="{FF2B5EF4-FFF2-40B4-BE49-F238E27FC236}">
                <a16:creationId xmlns:a16="http://schemas.microsoft.com/office/drawing/2014/main" id="{06BDB44F-9A0E-0D89-AA82-BBA5F6B7B3A4}"/>
              </a:ext>
            </a:extLst>
          </p:cNvPr>
          <p:cNvPicPr>
            <a:picLocks noChangeAspect="1"/>
          </p:cNvPicPr>
          <p:nvPr/>
        </p:nvPicPr>
        <p:blipFill>
          <a:blip r:embed="rId2"/>
          <a:srcRect t="444" r="-148" b="1357"/>
          <a:stretch>
            <a:fillRect/>
          </a:stretch>
        </p:blipFill>
        <p:spPr>
          <a:xfrm>
            <a:off x="-1028" y="875938"/>
            <a:ext cx="3064828" cy="2847478"/>
          </a:xfrm>
          <a:prstGeom prst="rect">
            <a:avLst/>
          </a:prstGeom>
        </p:spPr>
      </p:pic>
      <p:pic>
        <p:nvPicPr>
          <p:cNvPr id="6" name="Picture 5">
            <a:extLst>
              <a:ext uri="{FF2B5EF4-FFF2-40B4-BE49-F238E27FC236}">
                <a16:creationId xmlns:a16="http://schemas.microsoft.com/office/drawing/2014/main" id="{9B36B13C-A691-447F-F73E-E18AEC69C7E5}"/>
              </a:ext>
            </a:extLst>
          </p:cNvPr>
          <p:cNvPicPr>
            <a:picLocks noChangeAspect="1"/>
          </p:cNvPicPr>
          <p:nvPr/>
        </p:nvPicPr>
        <p:blipFill>
          <a:blip r:embed="rId3"/>
          <a:srcRect r="2165" b="-738"/>
          <a:stretch>
            <a:fillRect/>
          </a:stretch>
        </p:blipFill>
        <p:spPr>
          <a:xfrm>
            <a:off x="3067564" y="864974"/>
            <a:ext cx="3048066" cy="2967370"/>
          </a:xfrm>
          <a:prstGeom prst="rect">
            <a:avLst/>
          </a:prstGeom>
        </p:spPr>
      </p:pic>
      <p:pic>
        <p:nvPicPr>
          <p:cNvPr id="7" name="Picture 6">
            <a:extLst>
              <a:ext uri="{FF2B5EF4-FFF2-40B4-BE49-F238E27FC236}">
                <a16:creationId xmlns:a16="http://schemas.microsoft.com/office/drawing/2014/main" id="{D0C3A686-BEBA-AC08-6601-E5D29CED1B61}"/>
              </a:ext>
            </a:extLst>
          </p:cNvPr>
          <p:cNvPicPr>
            <a:picLocks noChangeAspect="1"/>
          </p:cNvPicPr>
          <p:nvPr/>
        </p:nvPicPr>
        <p:blipFill>
          <a:blip r:embed="rId4"/>
          <a:srcRect r="313" b="2239"/>
          <a:stretch>
            <a:fillRect/>
          </a:stretch>
        </p:blipFill>
        <p:spPr>
          <a:xfrm>
            <a:off x="6114021" y="869375"/>
            <a:ext cx="3032569" cy="2853138"/>
          </a:xfrm>
          <a:prstGeom prst="rect">
            <a:avLst/>
          </a:prstGeom>
        </p:spPr>
      </p:pic>
      <p:graphicFrame>
        <p:nvGraphicFramePr>
          <p:cNvPr id="4" name="Table 3">
            <a:extLst>
              <a:ext uri="{FF2B5EF4-FFF2-40B4-BE49-F238E27FC236}">
                <a16:creationId xmlns:a16="http://schemas.microsoft.com/office/drawing/2014/main" id="{2C0BB3A0-D822-BC6A-75C1-0ECB402510B4}"/>
              </a:ext>
            </a:extLst>
          </p:cNvPr>
          <p:cNvGraphicFramePr>
            <a:graphicFrameLocks noGrp="1"/>
          </p:cNvGraphicFramePr>
          <p:nvPr>
            <p:extLst>
              <p:ext uri="{D42A27DB-BD31-4B8C-83A1-F6EECF244321}">
                <p14:modId xmlns:p14="http://schemas.microsoft.com/office/powerpoint/2010/main" val="93270175"/>
              </p:ext>
            </p:extLst>
          </p:nvPr>
        </p:nvGraphicFramePr>
        <p:xfrm>
          <a:off x="1441621" y="4190999"/>
          <a:ext cx="6188526" cy="2206915"/>
        </p:xfrm>
        <a:graphic>
          <a:graphicData uri="http://schemas.openxmlformats.org/drawingml/2006/table">
            <a:tbl>
              <a:tblPr bandRow="1">
                <a:tableStyleId>{00A15C55-8517-42AA-B614-E9B94910E393}</a:tableStyleId>
              </a:tblPr>
              <a:tblGrid>
                <a:gridCol w="1982732">
                  <a:extLst>
                    <a:ext uri="{9D8B030D-6E8A-4147-A177-3AD203B41FA5}">
                      <a16:colId xmlns:a16="http://schemas.microsoft.com/office/drawing/2014/main" val="620356604"/>
                    </a:ext>
                  </a:extLst>
                </a:gridCol>
                <a:gridCol w="921269">
                  <a:extLst>
                    <a:ext uri="{9D8B030D-6E8A-4147-A177-3AD203B41FA5}">
                      <a16:colId xmlns:a16="http://schemas.microsoft.com/office/drawing/2014/main" val="2229247537"/>
                    </a:ext>
                  </a:extLst>
                </a:gridCol>
                <a:gridCol w="921269">
                  <a:extLst>
                    <a:ext uri="{9D8B030D-6E8A-4147-A177-3AD203B41FA5}">
                      <a16:colId xmlns:a16="http://schemas.microsoft.com/office/drawing/2014/main" val="4048063211"/>
                    </a:ext>
                  </a:extLst>
                </a:gridCol>
                <a:gridCol w="1201656">
                  <a:extLst>
                    <a:ext uri="{9D8B030D-6E8A-4147-A177-3AD203B41FA5}">
                      <a16:colId xmlns:a16="http://schemas.microsoft.com/office/drawing/2014/main" val="918250048"/>
                    </a:ext>
                  </a:extLst>
                </a:gridCol>
                <a:gridCol w="1161600">
                  <a:extLst>
                    <a:ext uri="{9D8B030D-6E8A-4147-A177-3AD203B41FA5}">
                      <a16:colId xmlns:a16="http://schemas.microsoft.com/office/drawing/2014/main" val="3983815416"/>
                    </a:ext>
                  </a:extLst>
                </a:gridCol>
              </a:tblGrid>
              <a:tr h="441383">
                <a:tc>
                  <a:txBody>
                    <a:bodyPr/>
                    <a:lstStyle/>
                    <a:p>
                      <a:pPr algn="ctr" rtl="0" fontAlgn="base">
                        <a:lnSpc>
                          <a:spcPts val="890"/>
                        </a:lnSpc>
                        <a:buNone/>
                      </a:pPr>
                      <a:r>
                        <a:rPr lang="en-IN" sz="1200">
                          <a:effectLst/>
                        </a:rPr>
                        <a:t>Model</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MAE</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MSE</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R² Score</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Rank</a:t>
                      </a:r>
                      <a:r>
                        <a:rPr lang="en-US" sz="1200" dirty="0">
                          <a:effectLst/>
                        </a:rPr>
                        <a:t> </a:t>
                      </a:r>
                    </a:p>
                  </a:txBody>
                  <a:tcPr marL="47625" marR="47625" marT="38100" marB="38100" anchor="ctr">
                    <a:solidFill>
                      <a:schemeClr val="accent1"/>
                    </a:solidFill>
                  </a:tcPr>
                </a:tc>
                <a:extLst>
                  <a:ext uri="{0D108BD9-81ED-4DB2-BD59-A6C34878D82A}">
                    <a16:rowId xmlns:a16="http://schemas.microsoft.com/office/drawing/2014/main" val="1199207644"/>
                  </a:ext>
                </a:extLst>
              </a:tr>
              <a:tr h="441383">
                <a:tc>
                  <a:txBody>
                    <a:bodyPr/>
                    <a:lstStyle/>
                    <a:p>
                      <a:pPr algn="ctr" rtl="0" fontAlgn="base">
                        <a:lnSpc>
                          <a:spcPts val="890"/>
                        </a:lnSpc>
                        <a:buNone/>
                      </a:pPr>
                      <a:r>
                        <a:rPr lang="en-IN" sz="1200">
                          <a:effectLst/>
                        </a:rPr>
                        <a:t>Linear Regression</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1.421</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3.872</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0.7614</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3rd</a:t>
                      </a:r>
                      <a:r>
                        <a:rPr lang="en-US" sz="1200" dirty="0">
                          <a:effectLst/>
                        </a:rPr>
                        <a:t> </a:t>
                      </a:r>
                    </a:p>
                  </a:txBody>
                  <a:tcPr marL="47625" marR="47625" marT="38100" marB="38100" anchor="ctr">
                    <a:solidFill>
                      <a:schemeClr val="accent1"/>
                    </a:solidFill>
                  </a:tcPr>
                </a:tc>
                <a:extLst>
                  <a:ext uri="{0D108BD9-81ED-4DB2-BD59-A6C34878D82A}">
                    <a16:rowId xmlns:a16="http://schemas.microsoft.com/office/drawing/2014/main" val="463101715"/>
                  </a:ext>
                </a:extLst>
              </a:tr>
              <a:tr h="441383">
                <a:tc>
                  <a:txBody>
                    <a:bodyPr/>
                    <a:lstStyle/>
                    <a:p>
                      <a:pPr algn="ctr" rtl="0" fontAlgn="base">
                        <a:lnSpc>
                          <a:spcPts val="890"/>
                        </a:lnSpc>
                        <a:buNone/>
                      </a:pPr>
                      <a:r>
                        <a:rPr lang="en-IN" sz="1200">
                          <a:effectLst/>
                        </a:rPr>
                        <a:t>Ridge Regression</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1.418</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3.855</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0.7625</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2nd</a:t>
                      </a:r>
                      <a:r>
                        <a:rPr lang="en-US" sz="1200" dirty="0">
                          <a:effectLst/>
                        </a:rPr>
                        <a:t> </a:t>
                      </a:r>
                    </a:p>
                  </a:txBody>
                  <a:tcPr marL="47625" marR="47625" marT="38100" marB="38100" anchor="ctr">
                    <a:solidFill>
                      <a:schemeClr val="accent1"/>
                    </a:solidFill>
                  </a:tcPr>
                </a:tc>
                <a:extLst>
                  <a:ext uri="{0D108BD9-81ED-4DB2-BD59-A6C34878D82A}">
                    <a16:rowId xmlns:a16="http://schemas.microsoft.com/office/drawing/2014/main" val="3227732259"/>
                  </a:ext>
                </a:extLst>
              </a:tr>
              <a:tr h="441383">
                <a:tc>
                  <a:txBody>
                    <a:bodyPr/>
                    <a:lstStyle/>
                    <a:p>
                      <a:pPr algn="ctr" rtl="0" fontAlgn="base">
                        <a:lnSpc>
                          <a:spcPts val="890"/>
                        </a:lnSpc>
                        <a:buNone/>
                      </a:pPr>
                      <a:r>
                        <a:rPr lang="en-IN" sz="1200">
                          <a:effectLst/>
                        </a:rPr>
                        <a:t>Decision Tree</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1.734</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5.190</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0.6817</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4th</a:t>
                      </a:r>
                      <a:r>
                        <a:rPr lang="en-US" sz="1200" dirty="0">
                          <a:effectLst/>
                        </a:rPr>
                        <a:t> </a:t>
                      </a:r>
                    </a:p>
                  </a:txBody>
                  <a:tcPr marL="47625" marR="47625" marT="38100" marB="38100" anchor="ctr">
                    <a:solidFill>
                      <a:schemeClr val="accent1"/>
                    </a:solidFill>
                  </a:tcPr>
                </a:tc>
                <a:extLst>
                  <a:ext uri="{0D108BD9-81ED-4DB2-BD59-A6C34878D82A}">
                    <a16:rowId xmlns:a16="http://schemas.microsoft.com/office/drawing/2014/main" val="2566213352"/>
                  </a:ext>
                </a:extLst>
              </a:tr>
              <a:tr h="441383">
                <a:tc>
                  <a:txBody>
                    <a:bodyPr/>
                    <a:lstStyle/>
                    <a:p>
                      <a:pPr algn="ctr" rtl="0" fontAlgn="base">
                        <a:lnSpc>
                          <a:spcPts val="890"/>
                        </a:lnSpc>
                        <a:buNone/>
                      </a:pPr>
                      <a:r>
                        <a:rPr lang="en-IN" sz="1200">
                          <a:effectLst/>
                        </a:rPr>
                        <a:t>Random Forest</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1.147</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2.838</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0.8288</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1st</a:t>
                      </a:r>
                      <a:r>
                        <a:rPr lang="en-US" sz="1200" dirty="0">
                          <a:effectLst/>
                        </a:rPr>
                        <a:t> </a:t>
                      </a:r>
                    </a:p>
                  </a:txBody>
                  <a:tcPr marL="47625" marR="47625" marT="38100" marB="38100" anchor="ctr">
                    <a:solidFill>
                      <a:schemeClr val="accent1"/>
                    </a:solidFill>
                  </a:tcPr>
                </a:tc>
                <a:extLst>
                  <a:ext uri="{0D108BD9-81ED-4DB2-BD59-A6C34878D82A}">
                    <a16:rowId xmlns:a16="http://schemas.microsoft.com/office/drawing/2014/main" val="279601253"/>
                  </a:ext>
                </a:extLst>
              </a:tr>
            </a:tbl>
          </a:graphicData>
        </a:graphic>
      </p:graphicFrame>
      <p:sp>
        <p:nvSpPr>
          <p:cNvPr id="8" name="TextBox 7">
            <a:extLst>
              <a:ext uri="{FF2B5EF4-FFF2-40B4-BE49-F238E27FC236}">
                <a16:creationId xmlns:a16="http://schemas.microsoft.com/office/drawing/2014/main" id="{BADE3FC5-0632-0FF1-CABB-13865AD6CBA5}"/>
              </a:ext>
            </a:extLst>
          </p:cNvPr>
          <p:cNvSpPr txBox="1"/>
          <p:nvPr/>
        </p:nvSpPr>
        <p:spPr>
          <a:xfrm>
            <a:off x="1771135" y="3830595"/>
            <a:ext cx="5601730" cy="7130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lnSpc>
                <a:spcPts val="971"/>
              </a:lnSpc>
            </a:pPr>
            <a:r>
              <a:rPr lang="en-IN" sz="1600" b="1" i="0">
                <a:solidFill>
                  <a:srgbClr val="000000"/>
                </a:solidFill>
                <a:latin typeface="Times New Roman"/>
                <a:ea typeface="Segoe UI"/>
                <a:cs typeface="Segoe UI"/>
              </a:rPr>
              <a:t> Performance Comparison of Regression Models</a:t>
            </a:r>
            <a:r>
              <a:rPr sz="1600" b="0" i="0" dirty="0">
                <a:solidFill>
                  <a:srgbClr val="000000"/>
                </a:solidFill>
                <a:latin typeface="Times New Roman"/>
                <a:ea typeface="Times New Roman"/>
                <a:cs typeface="Times New Roman"/>
              </a:rPr>
              <a:t> </a:t>
            </a:r>
            <a:endParaRPr lang="en-US" sz="1600" b="0" i="0" dirty="0">
              <a:solidFill>
                <a:srgbClr val="000000"/>
              </a:solidFill>
              <a:latin typeface="Times New Roman"/>
              <a:ea typeface="Times New Roman"/>
              <a:cs typeface="Times New Roman"/>
            </a:endParaRPr>
          </a:p>
          <a:p>
            <a:pPr algn="l" rtl="0"/>
            <a:endParaRPr sz="1600" b="0" i="0" dirty="0">
              <a:solidFill>
                <a:srgbClr val="000000"/>
              </a:solidFill>
              <a:latin typeface="Segoe UI"/>
              <a:ea typeface="Segoe UI"/>
              <a:cs typeface="Segoe UI"/>
            </a:endParaRPr>
          </a:p>
          <a:p>
            <a:pPr algn="ctr"/>
            <a:endParaRPr lang="en-US" sz="1600" dirty="0"/>
          </a:p>
        </p:txBody>
      </p:sp>
    </p:spTree>
    <p:extLst>
      <p:ext uri="{BB962C8B-B14F-4D97-AF65-F5344CB8AC3E}">
        <p14:creationId xmlns:p14="http://schemas.microsoft.com/office/powerpoint/2010/main" val="3620093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5B032-322E-F33C-1AE1-B8D4833857AC}"/>
              </a:ext>
            </a:extLst>
          </p:cNvPr>
          <p:cNvSpPr>
            <a:spLocks noGrp="1"/>
          </p:cNvSpPr>
          <p:nvPr>
            <p:ph type="title"/>
          </p:nvPr>
        </p:nvSpPr>
        <p:spPr>
          <a:xfrm>
            <a:off x="557561" y="0"/>
            <a:ext cx="5486040" cy="914040"/>
          </a:xfrm>
        </p:spPr>
        <p:txBody>
          <a:bodyPr/>
          <a:lstStyle/>
          <a:p>
            <a:pPr algn="r"/>
            <a:r>
              <a:rPr lang="en-US" sz="3200" dirty="0">
                <a:latin typeface="Times New Roman"/>
                <a:cs typeface="Times New Roman"/>
              </a:rPr>
              <a:t>Results &amp; evaluation </a:t>
            </a:r>
            <a:r>
              <a:rPr lang="en-US" sz="3200">
                <a:latin typeface="Times New Roman"/>
                <a:cs typeface="Times New Roman"/>
              </a:rPr>
              <a:t>Metrics</a:t>
            </a:r>
            <a:endParaRPr lang="en-US"/>
          </a:p>
        </p:txBody>
      </p:sp>
      <p:sp>
        <p:nvSpPr>
          <p:cNvPr id="5" name="TextBox 4">
            <a:extLst>
              <a:ext uri="{FF2B5EF4-FFF2-40B4-BE49-F238E27FC236}">
                <a16:creationId xmlns:a16="http://schemas.microsoft.com/office/drawing/2014/main" id="{FF0402D1-2B60-A52C-1F0F-A3280C6858BE}"/>
              </a:ext>
            </a:extLst>
          </p:cNvPr>
          <p:cNvSpPr txBox="1"/>
          <p:nvPr/>
        </p:nvSpPr>
        <p:spPr>
          <a:xfrm>
            <a:off x="167269" y="1490144"/>
            <a:ext cx="8976730"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ea typeface="+mn-lt"/>
                <a:cs typeface="Times New Roman" panose="02020603050405020304" pitchFamily="18" charset="0"/>
              </a:rPr>
              <a:t>The performance of all models was evaluated using Mean Absolute Error (MAE), Mean Squared Error (MSE), and R² score. MAE measures the average difference between predicted and actual values, while MSE gives higher weight to larger errors. The R² score indicates how well the model explains the variance in the target variable, with higher values representing better performance.</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r>
              <a:rPr lang="en-US" sz="2000" dirty="0">
                <a:latin typeface="Times New Roman" panose="02020603050405020304" pitchFamily="18" charset="0"/>
                <a:ea typeface="+mn-lt"/>
                <a:cs typeface="Times New Roman" panose="02020603050405020304" pitchFamily="18" charset="0"/>
              </a:rPr>
              <a:t>Among all models, the Random Forest Regressor achieved the best results with an R² score of 0.8288, along with the lowest MAE and MSE values, indicating high accuracy and strong predictive capability. Linear Regression and Ridge Regression showed similar performance, suggesting limited impact of multicollinearity. The Decision Tree Regressor performed the worst due to overfitting, resulting in higher error values.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2609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2A87C-B1EC-D7C0-7331-268A734E61B7}"/>
              </a:ext>
            </a:extLst>
          </p:cNvPr>
          <p:cNvSpPr>
            <a:spLocks noGrp="1"/>
          </p:cNvSpPr>
          <p:nvPr>
            <p:ph type="title"/>
          </p:nvPr>
        </p:nvSpPr>
        <p:spPr/>
        <p:txBody>
          <a:bodyPr/>
          <a:lstStyle/>
          <a:p>
            <a:pPr algn="r"/>
            <a:r>
              <a:rPr lang="en-US" sz="3200">
                <a:latin typeface="Times New Roman"/>
                <a:cs typeface="Times New Roman"/>
              </a:rPr>
              <a:t>Feature importance</a:t>
            </a:r>
            <a:endParaRPr lang="en-US"/>
          </a:p>
        </p:txBody>
      </p:sp>
      <p:sp>
        <p:nvSpPr>
          <p:cNvPr id="3" name="Subtitle 2">
            <a:extLst>
              <a:ext uri="{FF2B5EF4-FFF2-40B4-BE49-F238E27FC236}">
                <a16:creationId xmlns:a16="http://schemas.microsoft.com/office/drawing/2014/main" id="{20FDB39F-9571-2556-694A-3CA3D9F16EA2}"/>
              </a:ext>
            </a:extLst>
          </p:cNvPr>
          <p:cNvSpPr>
            <a:spLocks noGrp="1"/>
          </p:cNvSpPr>
          <p:nvPr>
            <p:ph type="subTitle"/>
          </p:nvPr>
        </p:nvSpPr>
        <p:spPr>
          <a:xfrm>
            <a:off x="457200" y="1439763"/>
            <a:ext cx="8229240" cy="3977280"/>
          </a:xfrm>
        </p:spPr>
        <p:txBody>
          <a:bodyPr/>
          <a:lstStyle/>
          <a:p>
            <a:pPr marL="0" indent="0">
              <a:buNone/>
            </a:pPr>
            <a:r>
              <a:rPr lang="en-US" sz="2000" dirty="0">
                <a:latin typeface="Times New Roman" panose="02020603050405020304" pitchFamily="18" charset="0"/>
                <a:cs typeface="Times New Roman" panose="02020603050405020304" pitchFamily="18" charset="0"/>
              </a:rPr>
              <a:t>Feature importance analysis revealed that the second period grade (G2) is the most significant predictor of final performance, followed by G1 and absences. This highlights that recent academic performance plays a crucial role in accurately predicting student outcomes.</a:t>
            </a:r>
            <a:endParaRPr lang="en-US" dirty="0">
              <a:latin typeface="Times New Roman" panose="02020603050405020304" pitchFamily="18" charset="0"/>
              <a:cs typeface="Times New Roman" panose="02020603050405020304" pitchFamily="18" charset="0"/>
            </a:endParaRPr>
          </a:p>
          <a:p>
            <a:pPr marL="0" indent="0">
              <a:buNone/>
            </a:pPr>
            <a:endParaRPr lang="en-US" sz="2000" dirty="0">
              <a:cs typeface="Arial"/>
            </a:endParaRPr>
          </a:p>
          <a:p>
            <a:pPr marL="0" indent="0">
              <a:buNone/>
            </a:pPr>
            <a:endParaRPr lang="en-US" sz="2000" dirty="0">
              <a:cs typeface="Arial"/>
            </a:endParaRPr>
          </a:p>
          <a:p>
            <a:pPr marL="0" indent="0">
              <a:buNone/>
            </a:pPr>
            <a:endParaRPr lang="en-US" sz="2000" dirty="0">
              <a:cs typeface="Arial"/>
            </a:endParaRPr>
          </a:p>
          <a:p>
            <a:pPr marL="0" indent="0">
              <a:buNone/>
            </a:pPr>
            <a:endParaRPr lang="en-US" sz="2000" dirty="0">
              <a:cs typeface="Arial"/>
            </a:endParaRPr>
          </a:p>
          <a:p>
            <a:pPr marL="0" indent="0">
              <a:buNone/>
            </a:pPr>
            <a:endParaRPr lang="en-US" sz="2000" dirty="0">
              <a:cs typeface="Arial"/>
            </a:endParaRPr>
          </a:p>
          <a:p>
            <a:pPr marL="0" indent="0">
              <a:buNone/>
            </a:pPr>
            <a:endParaRPr lang="en-US" sz="2000" dirty="0">
              <a:cs typeface="Arial"/>
            </a:endParaRPr>
          </a:p>
          <a:p>
            <a:pPr marL="0" indent="0">
              <a:buNone/>
            </a:pPr>
            <a:endParaRPr lang="en-US" sz="2000" dirty="0">
              <a:cs typeface="Arial"/>
            </a:endParaRPr>
          </a:p>
        </p:txBody>
      </p:sp>
      <p:pic>
        <p:nvPicPr>
          <p:cNvPr id="4" name="Picture 3" descr="A graph with blue bars&#10;&#10;AI-generated content may be incorrect.">
            <a:extLst>
              <a:ext uri="{FF2B5EF4-FFF2-40B4-BE49-F238E27FC236}">
                <a16:creationId xmlns:a16="http://schemas.microsoft.com/office/drawing/2014/main" id="{1DCC0048-CFEE-2398-E340-3D41712822CE}"/>
              </a:ext>
            </a:extLst>
          </p:cNvPr>
          <p:cNvPicPr>
            <a:picLocks noChangeAspect="1"/>
          </p:cNvPicPr>
          <p:nvPr/>
        </p:nvPicPr>
        <p:blipFill>
          <a:blip r:embed="rId2"/>
          <a:srcRect b="1198"/>
          <a:stretch>
            <a:fillRect/>
          </a:stretch>
        </p:blipFill>
        <p:spPr>
          <a:xfrm>
            <a:off x="1862831" y="3045647"/>
            <a:ext cx="4933158" cy="3591200"/>
          </a:xfrm>
          <a:prstGeom prst="rect">
            <a:avLst/>
          </a:prstGeom>
        </p:spPr>
      </p:pic>
    </p:spTree>
    <p:extLst>
      <p:ext uri="{BB962C8B-B14F-4D97-AF65-F5344CB8AC3E}">
        <p14:creationId xmlns:p14="http://schemas.microsoft.com/office/powerpoint/2010/main" val="1967253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F513B-F0B3-5A09-FE0B-95AA3A79E13E}"/>
              </a:ext>
            </a:extLst>
          </p:cNvPr>
          <p:cNvSpPr>
            <a:spLocks noGrp="1"/>
          </p:cNvSpPr>
          <p:nvPr>
            <p:ph type="title"/>
          </p:nvPr>
        </p:nvSpPr>
        <p:spPr>
          <a:xfrm>
            <a:off x="-370703" y="0"/>
            <a:ext cx="5486040" cy="914040"/>
          </a:xfrm>
        </p:spPr>
        <p:txBody>
          <a:bodyPr/>
          <a:lstStyle/>
          <a:p>
            <a:pPr algn="r"/>
            <a:r>
              <a:rPr lang="en-US" sz="3200">
                <a:latin typeface="Times New Roman"/>
                <a:cs typeface="Times New Roman"/>
              </a:rPr>
              <a:t>Conclusion</a:t>
            </a:r>
            <a:endParaRPr lang="en-US"/>
          </a:p>
        </p:txBody>
      </p:sp>
      <p:sp>
        <p:nvSpPr>
          <p:cNvPr id="4" name="TextBox 3">
            <a:extLst>
              <a:ext uri="{FF2B5EF4-FFF2-40B4-BE49-F238E27FC236}">
                <a16:creationId xmlns:a16="http://schemas.microsoft.com/office/drawing/2014/main" id="{504E9A9A-A9DE-934D-6D97-0F7CA45B5D81}"/>
              </a:ext>
            </a:extLst>
          </p:cNvPr>
          <p:cNvSpPr txBox="1"/>
          <p:nvPr/>
        </p:nvSpPr>
        <p:spPr>
          <a:xfrm>
            <a:off x="267730" y="1215080"/>
            <a:ext cx="8773295"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cs typeface="Times New Roman" panose="02020603050405020304" pitchFamily="18" charset="0"/>
              </a:rPr>
              <a:t>The results of this study clearly demonstrate that the Random Forest Regressor is the most effective model for predicting student performance, as it achieves the highest accuracy and best generalization among all models. Its ensemble approach allows it to capture complex patterns while reducing overfitting, making it more reliable than individual models.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study also highlights that academic features, particularly G2 and G1, are the strongest predictors of final grades, emphasizing the importance of continuous performance tracking. While linear models offer simplicity and interpretability, they fall slightly behind in accuracy, and Decision Trees struggle with generalization.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Overall, this work shows that machine learning can be a powerful tool for building early warning systems, enabling educational institutions to identify at-risk students early and provide timely support to improve academic outcomes.</a:t>
            </a:r>
          </a:p>
          <a:p>
            <a:pPr algn="ct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0959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a:latin typeface="Times New Roman" panose="02020603050405020304" pitchFamily="18" charset="0"/>
                <a:cs typeface="Times New Roman" panose="02020603050405020304" pitchFamily="18" charset="0"/>
              </a:rPr>
              <a:t>Thank You</a:t>
            </a:r>
            <a:endParaRPr lang="en-US" sz="5400" b="0" strike="noStrike" spc="-1">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1080</Words>
  <Application>Microsoft Office PowerPoint</Application>
  <PresentationFormat>On-screen Show (4:3)</PresentationFormat>
  <Paragraphs>117</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Segoe UI</vt:lpstr>
      <vt:lpstr>Times New Roman</vt:lpstr>
      <vt:lpstr>Office Theme</vt:lpstr>
      <vt:lpstr>PowerPoint Presentation</vt:lpstr>
      <vt:lpstr>PowerPoint Presentation</vt:lpstr>
      <vt:lpstr>     Problem Statement</vt:lpstr>
      <vt:lpstr>       Objective</vt:lpstr>
      <vt:lpstr>      Methodology</vt:lpstr>
      <vt:lpstr>     Model Comparison</vt:lpstr>
      <vt:lpstr>     Model Comparison</vt:lpstr>
      <vt:lpstr>Results &amp; evaluation Metrics</vt:lpstr>
      <vt:lpstr>Feature importance</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Himanshu Sharma</cp:lastModifiedBy>
  <cp:revision>323</cp:revision>
  <dcterms:created xsi:type="dcterms:W3CDTF">2010-04-09T07:36:15Z</dcterms:created>
  <dcterms:modified xsi:type="dcterms:W3CDTF">2026-05-14T04:49:54Z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